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7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B8C7E0"/>
                </a:solidFill>
              </a:defRPr>
            </a:pPr>
            <a:r>
              <a:t>EXAME NORMAL DE COMPILADORES — CONSTRUÇÃO DO ANALISADOR SEMÂNTICO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</a:defRPr>
            </a:pPr>
            <a:r>
              <a:t>MINI-COMPILADOR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DDE6F5"/>
                </a:solidFill>
              </a:defRPr>
            </a:pPr>
            <a:r>
              <a:t>Construção de um Analisador Léxico, Sintático e Semântico</a:t>
            </a:r>
            <a:br/>
            <a:r>
              <a:t>para um subconjunto da linguagem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B8C7E0"/>
                </a:solidFill>
              </a:defRPr>
            </a:pPr>
            <a:r>
              <a:t>Disciplina: Compiladores   |   Linguagem-alvo: subconjunto de Java   |   Implementação: Java (JDK 17+)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2C494"/>
                </a:solidFill>
              </a:defRPr>
            </a:pPr>
            <a:r>
              <a:t>Estudante: [PREENCHER]   |   Docente: [PREENCHER]   |   Data: [PREENCHER]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O que vamos 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2704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</a:defRPr>
            </a:pPr>
            <a:r>
              <a:t>Escolha e especificação da linguagem em estudo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58568"/>
            <a:ext cx="640080" cy="640080"/>
          </a:xfrm>
          <a:prstGeom prst="ellipse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6829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</a:defRPr>
            </a:pPr>
            <a:r>
              <a:t>Arquitetura geral do MINI-COMPILADOR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99816"/>
            <a:ext cx="640080" cy="640080"/>
          </a:xfrm>
          <a:prstGeom prst="ellipse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095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</a:defRPr>
            </a:pPr>
            <a:r>
              <a:t>Analisador Léxico (Scanner) — autómatos e expressões regulares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41064"/>
            <a:ext cx="640080" cy="640080"/>
          </a:xfrm>
          <a:prstGeom prst="ellipse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507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</a:defRPr>
            </a:pPr>
            <a:r>
              <a:t>Analisador Sintático (Parser) — gramática, ambiguidade e recursividade à esquerda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782312"/>
            <a:ext cx="640080" cy="640080"/>
          </a:xfrm>
          <a:prstGeom prst="ellipse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92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</a:defRPr>
            </a:pPr>
            <a:r>
              <a:t>Analisador Semântico — metodologia e as 6 verificações exigidas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623560"/>
            <a:ext cx="640080" cy="640080"/>
          </a:xfrm>
          <a:prstGeom prst="ellipse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73328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</a:defRPr>
            </a:pPr>
            <a:r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1. LINGUAGEM EM ESTUDO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Porquê um subconjunto de Java?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64008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700" b="1" i="0">
                <a:solidFill>
                  <a:srgbClr val="333333"/>
                </a:solidFill>
              </a:defRPr>
            </a:pPr>
            <a:r>
              <a:t>Familiaridade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400" b="0" i="0">
                <a:solidFill>
                  <a:srgbClr val="333333"/>
                </a:solidFill>
              </a:defRPr>
            </a:pPr>
            <a:r>
              <a:t>Linguagem predominante ao longo do curso — reduz o risco de erros na especificação da gramática.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66160" cy="64008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700" b="1" i="0">
                <a:solidFill>
                  <a:srgbClr val="333333"/>
                </a:solidFill>
              </a:defRPr>
            </a:pPr>
            <a:r>
              <a:t>Tipagem forte + POO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10312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400" b="0" i="0">
                <a:solidFill>
                  <a:srgbClr val="333333"/>
                </a:solidFill>
              </a:defRPr>
            </a:pPr>
            <a:r>
              <a:t>Sistema de tipos estático e conceito claro de escopo (classe/método/bloco) — ideal para a fase semântica.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700" b="1" i="0">
                <a:solidFill>
                  <a:srgbClr val="333333"/>
                </a:solidFill>
              </a:defRPr>
            </a:pPr>
            <a:r>
              <a:t>Gramática 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0312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400" b="0" i="0">
                <a:solidFill>
                  <a:srgbClr val="333333"/>
                </a:solidFill>
              </a:defRPr>
            </a:pPr>
            <a:r>
              <a:t>Contém, de forma natural, os dois problemas exigidos pelo enunciado: ambiguidade (dangling else) e recursividade à esquerda.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1. LINGUAGEM EM ESTUDO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Especificação do subconjunto suportado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50292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 i="0">
                <a:solidFill>
                  <a:srgbClr val="333333"/>
                </a:solidFill>
              </a:defRPr>
            </a:pPr>
            <a:r>
              <a:t>Estrutura do programa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package, import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classes e interfaces (aninhadas, genéricos, extends/implements)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campos, métodos, construtores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394960" cy="50292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 i="0">
                <a:solidFill>
                  <a:srgbClr val="333333"/>
                </a:solidFill>
              </a:defRPr>
            </a:pPr>
            <a:r>
              <a:t>Tipos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primitivos (boolean, byte, short, char, int, long, float, double)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String, tipos do utilizador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arrays de qualquer dimensão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5394960" cy="50292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 i="0">
                <a:solidFill>
                  <a:srgbClr val="333333"/>
                </a:solidFill>
              </a:defRPr>
            </a:pPr>
            <a:r>
              <a:t>Instruções de controlo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4340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if/else, while, do-while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for clássico e for-each, switch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try/catch/finally, break/continue/return/throw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94760"/>
            <a:ext cx="5394960" cy="5029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 i="0">
                <a:solidFill>
                  <a:srgbClr val="333333"/>
                </a:solidFill>
              </a:defRPr>
            </a:pPr>
            <a:r>
              <a:t>Expressões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343400"/>
            <a:ext cx="5394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aritméticos, relacionais, lógicos, bit a bit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atribuição composta, instanceof, ternário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cast, incremento/decremento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2.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Pipeline do MINI-COMPILADOR (as 3 fases)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377440" cy="640080"/>
          </a:xfrm>
          <a:prstGeom prst="rect">
            <a:avLst/>
          </a:prstGeom>
          <a:solidFill>
            <a:srgbClr val="F5F5F5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Ficheiro-fonte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(.txt / .java)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691640"/>
            <a:ext cx="77724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08860" y="1490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String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371600"/>
            <a:ext cx="2377440" cy="64008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Lexer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(Analisador Léxico)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1691640"/>
            <a:ext cx="777240" cy="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09260" y="1490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List&lt;Token&gt;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71600"/>
            <a:ext cx="2743200" cy="82296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Parser</a:t>
            </a:r>
          </a:p>
          <a:p>
            <a:pPr algn="ctr">
              <a:defRPr sz="1200" b="0" i="0">
                <a:solidFill>
                  <a:srgbClr val="333333"/>
                </a:solidFill>
              </a:defRPr>
            </a:pPr>
            <a:r>
              <a:t>(Analisador Sintático)</a:t>
            </a:r>
          </a:p>
          <a:p>
            <a:pPr algn="ctr">
              <a:defRPr sz="1200" b="0" i="0">
                <a:solidFill>
                  <a:srgbClr val="333333"/>
                </a:solidFill>
              </a:defRPr>
            </a:pPr>
            <a:r>
              <a:t>constrói AST + preenche a Tabela de Símbolos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852160" y="2194560"/>
            <a:ext cx="1828800" cy="8686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60720" y="24277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devolve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2194560"/>
            <a:ext cx="640080" cy="8686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24277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preenche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108960"/>
            <a:ext cx="2743200" cy="82296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Program</a:t>
            </a:r>
          </a:p>
          <a:p>
            <a:pPr algn="ctr">
              <a:defRPr sz="1400" b="0" i="0">
                <a:solidFill>
                  <a:srgbClr val="333333"/>
                </a:solidFill>
              </a:defRPr>
            </a:pPr>
            <a:r>
              <a:t>(AST)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108960"/>
            <a:ext cx="2743200" cy="82296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SymbolTable</a:t>
            </a:r>
          </a:p>
          <a:p>
            <a:pPr algn="ctr">
              <a:defRPr sz="1400" b="0" i="0">
                <a:solidFill>
                  <a:srgbClr val="333333"/>
                </a:solidFill>
              </a:defRPr>
            </a:pPr>
            <a:r>
              <a:t>(Tabela de Símbolos)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3931920"/>
            <a:ext cx="1463040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595360" y="3931920"/>
            <a:ext cx="1097280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4709160"/>
            <a:ext cx="3108960" cy="82296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SemanticAnalyzer</a:t>
            </a:r>
          </a:p>
          <a:p>
            <a:pPr algn="ctr">
              <a:defRPr sz="1200" b="0" i="0">
                <a:solidFill>
                  <a:srgbClr val="333333"/>
                </a:solidFill>
              </a:defRPr>
            </a:pPr>
            <a:r>
              <a:t>(Analisador Semântico)</a:t>
            </a:r>
          </a:p>
          <a:p>
            <a:pPr algn="ctr">
              <a:defRPr sz="1200" b="0" i="0">
                <a:solidFill>
                  <a:srgbClr val="333333"/>
                </a:solidFill>
              </a:defRPr>
            </a:pPr>
            <a:r>
              <a:t>usa Program + SymbolTable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63840" y="5532120"/>
            <a:ext cx="0" cy="4572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309360" y="5989320"/>
            <a:ext cx="3108960" cy="685800"/>
          </a:xfrm>
          <a:prstGeom prst="rect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Lista de erros semânticos</a:t>
            </a:r>
          </a:p>
          <a:p>
            <a:pPr algn="ctr">
              <a:defRPr sz="1200" b="0" i="0">
                <a:solidFill>
                  <a:srgbClr val="333333"/>
                </a:solidFill>
              </a:defRPr>
            </a:pPr>
            <a:r>
              <a:t>(linha : coluna — mensagem)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743200"/>
            <a:ext cx="1188720" cy="1188720"/>
          </a:xfrm>
          <a:prstGeom prst="ellipse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4400" b="1" i="0">
                <a:solidFill>
                  <a:srgbClr val="1F3864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880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Analisador Léxico (Scanner)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3. ANALISADOR LÉXICO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O papel do Scanner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33333"/>
                </a:solidFill>
              </a:defRPr>
            </a:pPr>
            <a:r>
              <a:t>•  Lê o código-fonte carácter a carácter e agrupa-o em tokens: identificadores, palavras-reservadas, literais, operadores e delimitadores.</a:t>
            </a:r>
          </a:p>
          <a:p>
            <a:pPr>
              <a:spcAft>
                <a:spcPts val="1600"/>
              </a:spcAft>
              <a:defRPr sz="1800">
                <a:solidFill>
                  <a:srgbClr val="333333"/>
                </a:solidFill>
              </a:defRPr>
            </a:pPr>
            <a:r>
              <a:t>•  Cada token guarda: tipo, lexema, linha e coluna — usados depois pelo parser e pelo analisador semântico para localizar erros.</a:t>
            </a:r>
          </a:p>
          <a:p>
            <a:pPr>
              <a:spcAft>
                <a:spcPts val="1600"/>
              </a:spcAft>
              <a:defRPr sz="1800">
                <a:solidFill>
                  <a:srgbClr val="333333"/>
                </a:solidFill>
              </a:defRPr>
            </a:pPr>
            <a:r>
              <a:t>•  Implementado como um Autómato Finito Determinístico (AFD) explícito, sem gerador de scanners (sem Lex/Flex/ANTLR).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80560"/>
            <a:ext cx="10607040" cy="155448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800" b="1" i="0">
                <a:solidFill>
                  <a:srgbClr val="333333"/>
                </a:solidFill>
              </a:defRPr>
            </a:pPr>
            <a:r>
              <a:t>Ficheiro-fonte  →  Lexer.scan()  →  List&lt;Token&gt;  →  consumida pelo Parser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3. ANALISADOR LÉXICO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Autómato Finito Determinístico (simplificado)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34640"/>
            <a:ext cx="914400" cy="9144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1200" b="1"/>
            </a:pPr>
            <a:r>
              <a:t>Q0</a:t>
            </a:r>
            <a:br/>
            <a:r>
              <a:t>(início)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1005840"/>
            <a:ext cx="1371600" cy="22860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19476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letra/_/$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548640"/>
            <a:ext cx="914400" cy="914400"/>
          </a:xfrm>
          <a:prstGeom prst="ellipse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1300" b="1"/>
            </a:pPr>
            <a:r>
              <a:t>Q8</a:t>
            </a:r>
          </a:p>
        </p:txBody>
      </p:sp>
      <p:sp>
        <p:nvSpPr>
          <p:cNvPr id="10" name="Oval 9"/>
          <p:cNvSpPr/>
          <p:nvPr/>
        </p:nvSpPr>
        <p:spPr>
          <a:xfrm>
            <a:off x="2807208" y="612647"/>
            <a:ext cx="786384" cy="786384"/>
          </a:xfrm>
          <a:prstGeom prst="ellipse">
            <a:avLst/>
          </a:prstGeom>
          <a:noFill/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71323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identificador /</a:t>
            </a:r>
            <a:br/>
            <a:r>
              <a:t>palavra-reservada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371600" y="2468880"/>
            <a:ext cx="1371600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267919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dígito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2011680"/>
            <a:ext cx="914400" cy="914400"/>
          </a:xfrm>
          <a:prstGeom prst="ellipse">
            <a:avLst/>
          </a:prstGeom>
          <a:solidFill>
            <a:srgbClr val="FFE6CC"/>
          </a:solidFill>
          <a:ln w="1905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1300" b="1"/>
            </a:pPr>
            <a:r>
              <a:t>Q1</a:t>
            </a:r>
          </a:p>
        </p:txBody>
      </p:sp>
      <p:sp>
        <p:nvSpPr>
          <p:cNvPr id="15" name="Oval 14"/>
          <p:cNvSpPr/>
          <p:nvPr/>
        </p:nvSpPr>
        <p:spPr>
          <a:xfrm>
            <a:off x="2807208" y="2075688"/>
            <a:ext cx="786384" cy="786384"/>
          </a:xfrm>
          <a:prstGeom prst="ellipse">
            <a:avLst/>
          </a:prstGeom>
          <a:noFill/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1762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número</a:t>
            </a:r>
            <a:br/>
            <a:r>
              <a:t>(int/long/float/double)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" y="3291840"/>
            <a:ext cx="1371600" cy="6400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" y="34107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"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0" y="3474720"/>
            <a:ext cx="914400" cy="914400"/>
          </a:xfrm>
          <a:prstGeom prst="ellipse">
            <a:avLst/>
          </a:prstGeom>
          <a:solidFill>
            <a:srgbClr val="D5E8D4"/>
          </a:solidFill>
          <a:ln w="1905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1300" b="1"/>
            </a:pPr>
            <a:r>
              <a:t>Q47</a:t>
            </a:r>
          </a:p>
        </p:txBody>
      </p:sp>
      <p:sp>
        <p:nvSpPr>
          <p:cNvPr id="20" name="Oval 19"/>
          <p:cNvSpPr/>
          <p:nvPr/>
        </p:nvSpPr>
        <p:spPr>
          <a:xfrm>
            <a:off x="2807208" y="3538727"/>
            <a:ext cx="786384" cy="786384"/>
          </a:xfrm>
          <a:prstGeom prst="ellipse">
            <a:avLst/>
          </a:prstGeom>
          <a:noFill/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363931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literal de texto</a:t>
            </a:r>
            <a:br/>
            <a:r>
              <a:t>(String)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" y="3291840"/>
            <a:ext cx="1371600" cy="210312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1560" y="41422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+ - &lt; = ...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0" y="4937760"/>
            <a:ext cx="914400" cy="914400"/>
          </a:xfrm>
          <a:prstGeom prst="ellipse">
            <a:avLst/>
          </a:prstGeom>
          <a:solidFill>
            <a:srgbClr val="E1D5E7"/>
          </a:solidFill>
          <a:ln w="1905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>
              <a:defRPr sz="1300" b="1"/>
            </a:pPr>
            <a:r>
              <a:t>Q6</a:t>
            </a:r>
          </a:p>
        </p:txBody>
      </p:sp>
      <p:sp>
        <p:nvSpPr>
          <p:cNvPr id="25" name="Oval 24"/>
          <p:cNvSpPr/>
          <p:nvPr/>
        </p:nvSpPr>
        <p:spPr>
          <a:xfrm>
            <a:off x="2807208" y="5001768"/>
            <a:ext cx="786384" cy="786384"/>
          </a:xfrm>
          <a:prstGeom prst="ellipse">
            <a:avLst/>
          </a:prstGeom>
          <a:noFill/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51023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operador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1">
                <a:solidFill>
                  <a:srgbClr val="666666"/>
                </a:solidFill>
              </a:defRPr>
            </a:pPr>
            <a:r>
              <a:t>Estados finais (círculo duplo) fecham o lexema e classificam o token — implementado em transicao(Estado, char) e isEstadoFinal(Estado).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3. ANALISADOR LÉXICO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Expressões regulares por categoria de token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6070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315200"/>
              </a:tblGrid>
              <a:tr h="53848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Categoria de token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Expressão regular equivalente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IDENTIFICADOR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[A-Za-z_$][A-Za-z0-9_$]*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LITERAL_INTEIRO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[0-9]+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LITERAL_LONG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[0-9]+[lL]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LITERAL_DOUBLE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[0-9]+"."[0-9]+([dD])?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LITERAL_FLOAT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[0-9]+"."[0-9]+[fF]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LITERAL_TEXTO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"( [^"\\\n] | \\. )*"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LITERAL_CARACTERE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'( [^'\\\n] | \\. 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COMENTARIO_LINHA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"//" [^\n]*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3. ANALISADOR LÉXICO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Metodologia e casos especiais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50">
                <a:solidFill>
                  <a:srgbClr val="333333"/>
                </a:solidFill>
              </a:defRPr>
            </a:pPr>
            <a:r>
              <a:t>•  Tabela de transições genérica: transicao(Estado, char) → próximo Estado (ou null = fim do lexema).</a:t>
            </a:r>
          </a:p>
          <a:p>
            <a:pPr>
              <a:spcAft>
                <a:spcPts val="1200"/>
              </a:spcAft>
              <a:defRPr sz="1650">
                <a:solidFill>
                  <a:srgbClr val="333333"/>
                </a:solidFill>
              </a:defRPr>
            </a:pPr>
            <a:r>
              <a:t>•  Operadores compostos (==, &lt;&lt;=, &gt;&gt;&gt;=, ...): resolvidos por lookahead direto de 1–3 caracteres, evitando explodir o autómato genérico.</a:t>
            </a:r>
          </a:p>
          <a:p>
            <a:pPr>
              <a:spcAft>
                <a:spcPts val="1200"/>
              </a:spcAft>
              <a:defRPr sz="1650">
                <a:solidFill>
                  <a:srgbClr val="333333"/>
                </a:solidFill>
              </a:defRPr>
            </a:pPr>
            <a:r>
              <a:t>•  Comentários (// e /* */, com aninhamento): reconhecidos e descartados sem gerar token.</a:t>
            </a:r>
          </a:p>
          <a:p>
            <a:pPr>
              <a:spcAft>
                <a:spcPts val="1200"/>
              </a:spcAft>
              <a:defRPr sz="1650">
                <a:solidFill>
                  <a:srgbClr val="333333"/>
                </a:solidFill>
              </a:defRPr>
            </a:pPr>
            <a:r>
              <a:t>•  Strings/chars: sub-rotinas dedicadas para tratar sequências de escape (\", \\, \n) sem as interpretar.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120640" cy="173736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ANTES (ingénuo)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um estado por cada combinação de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1 a 4 caracteres de operador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→ dezenas de estados extra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31920"/>
            <a:ext cx="5120640" cy="173736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DEPOIS (adotado)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processarOperadorEspecifico(c)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lookahead direto ao 2º/3º/4º carácter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→ autómato genérico simples + legível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3. ANALISADOR LÉXICO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Tratamento de erros léxicos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120640" cy="329184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Caractere não reconhecido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ex.: um símbolo estranho fora de contexto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→ token DESCONHECIDO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→ aviso em System.err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→ scanner CONTINUA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120640" cy="329184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Literal mal fechado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string / char / comentário de bloco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sem delimitador de fecho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→ exceção LexError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→ erro FATAL (sem recuperação local)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743200"/>
            <a:ext cx="1188720" cy="1188720"/>
          </a:xfrm>
          <a:prstGeom prst="ellipse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4400" b="1" i="0">
                <a:solidFill>
                  <a:srgbClr val="1F3864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880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Analisador Sintático (Parser)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O papel do Parser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Verifica se a sequência de tokens respeita a gramática da linguagem.</a:t>
            </a:r>
          </a:p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Constrói a Árvore Sintática Abstrata (AST) — a representação hierárquica do programa.</a:t>
            </a:r>
          </a:p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Preenche, ao mesmo tempo, a Tabela de Símbolos (nome, tipo, endereço, escopo, tamanho, valor inicial de cada símbolo).</a:t>
            </a:r>
          </a:p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Técnica escolhida: parser descendente recursivo (recursive descent), com lookahead limitado, sem retrocesso.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Preparação da gramática (BNF)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241280" cy="1828800"/>
          </a:xfrm>
          <a:prstGeom prst="rect">
            <a:avLst/>
          </a:prstGeom>
          <a:solidFill>
            <a:srgbClr val="F5F5F5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&lt;instrucaoIf&gt; ::= "if" "(" &lt;expressao&gt; ")" &lt;instrucao&gt; ("else" &lt;instrucao&gt;)?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&lt;expressaoAditiva&gt; ::= &lt;expressaoAditiva&gt; ("+"|"-") &lt;expressaoMultiplicativa&gt;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                     | &lt;expressaoMultiplicativa&gt;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333333"/>
                </a:solidFill>
              </a:defRPr>
            </a:pPr>
            <a:r>
              <a:t>Gramática "natural" de Java tem 2 problemas para um parser descendente recursivo: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029200" cy="128016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700" b="1" i="0">
                <a:solidFill>
                  <a:srgbClr val="333333"/>
                </a:solidFill>
              </a:defRPr>
            </a:pPr>
            <a:r>
              <a:t>1. AMBIGUIDADE</a:t>
            </a:r>
          </a:p>
          <a:p>
            <a:pPr algn="ctr">
              <a:defRPr sz="1700" b="0" i="0">
                <a:solidFill>
                  <a:srgbClr val="333333"/>
                </a:solidFill>
              </a:defRPr>
            </a:pPr>
            <a:r>
              <a:t>"dangling else"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77639"/>
            <a:ext cx="5029200" cy="128016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700" b="1" i="0">
                <a:solidFill>
                  <a:srgbClr val="333333"/>
                </a:solidFill>
              </a:defRPr>
            </a:pPr>
            <a:r>
              <a:t>2. RECURSIVIDADE À ESQUERDA</a:t>
            </a:r>
          </a:p>
          <a:p>
            <a:pPr algn="ctr">
              <a:defRPr sz="1700" b="0" i="0">
                <a:solidFill>
                  <a:srgbClr val="333333"/>
                </a:solidFill>
              </a:defRPr>
            </a:pPr>
            <a:r>
              <a:t>nas expressões binárias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Eliminação da ambiguidade: "dangling else"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10312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if (a)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  if (b) S1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else S2</a:t>
            </a:r>
          </a:p>
          <a:p>
            <a:pPr algn="l">
              <a:defRPr sz="1500" b="0" i="0">
                <a:solidFill>
                  <a:srgbClr val="333333"/>
                </a:solidFill>
              </a:defRPr>
            </a:pPr>
          </a:p>
          <a:p>
            <a:pPr algn="l">
              <a:defRPr sz="1500" b="0" i="0">
                <a:solidFill>
                  <a:srgbClr val="333333"/>
                </a:solidFill>
              </a:defRPr>
            </a:pPr>
            <a:r>
              <a:t>? o else pertence ao 1º ou 2º if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1F3864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4754880" cy="210312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 i="0">
                <a:solidFill>
                  <a:srgbClr val="333333"/>
                </a:solidFill>
              </a:defRPr>
            </a:pPr>
            <a:r>
              <a:t>Regra: else liga-se sempre</a:t>
            </a:r>
          </a:p>
          <a:p>
            <a:pPr algn="ctr">
              <a:defRPr sz="1600" b="0" i="0">
                <a:solidFill>
                  <a:srgbClr val="333333"/>
                </a:solidFill>
              </a:defRPr>
            </a:pPr>
            <a:r>
              <a:t>ao if aberto mais próximo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10881360" cy="2011680"/>
          </a:xfrm>
          <a:prstGeom prst="rect">
            <a:avLst/>
          </a:prstGeom>
          <a:solidFill>
            <a:srgbClr val="F5F5F5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350" b="0" i="0">
                <a:solidFill>
                  <a:srgbClr val="333333"/>
                </a:solidFill>
              </a:defRPr>
            </a:pPr>
            <a:r>
              <a:t>&lt;instrucaoIf&gt;      ::= "if" "(" expr ")" &lt;instrucaoNoElse&gt; ("else" &lt;instrucao&gt;)?</a:t>
            </a:r>
          </a:p>
          <a:p>
            <a:pPr algn="l">
              <a:defRPr sz="1350" b="0" i="0">
                <a:solidFill>
                  <a:srgbClr val="333333"/>
                </a:solidFill>
              </a:defRPr>
            </a:pPr>
            <a:r>
              <a:t>&lt;instrucaoNoElse&gt;   ::= ... | &lt;instrucaoIfNoElse&gt; | ...</a:t>
            </a:r>
          </a:p>
          <a:p>
            <a:pPr algn="l">
              <a:defRPr sz="1350" b="0" i="0">
                <a:solidFill>
                  <a:srgbClr val="333333"/>
                </a:solidFill>
              </a:defRPr>
            </a:pPr>
            <a:r>
              <a:t>&lt;instrucaoIfNoElse&gt; ::= "if" "(" expr ")" &lt;instrucaoNoElse&gt;</a:t>
            </a:r>
          </a:p>
          <a:p>
            <a:pPr algn="l">
              <a:defRPr sz="1350" b="0" i="0">
                <a:solidFill>
                  <a:srgbClr val="333333"/>
                </a:solidFill>
              </a:defRPr>
            </a:pPr>
          </a:p>
          <a:p>
            <a:pPr algn="l">
              <a:defRPr sz="1350" b="0" i="0">
                <a:solidFill>
                  <a:srgbClr val="333333"/>
                </a:solidFill>
              </a:defRPr>
            </a:pPr>
            <a:r>
              <a:t>Nova produção auxiliar &lt;instrucaoNoElse&gt; impede um "if aberto" antes do else</a:t>
            </a:r>
          </a:p>
          <a:p>
            <a:pPr algn="l">
              <a:defRPr sz="1350" b="0" i="0">
                <a:solidFill>
                  <a:srgbClr val="333333"/>
                </a:solidFill>
              </a:defRPr>
            </a:pPr>
            <a:r>
              <a:t>→ gramática deixa de ser ambígua (decisão está na própria gramática, não no código)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Eliminação da recursividade à esquerda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82880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ANTES (recursivo à esquerda)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&lt;expAditiva&gt; ::= &lt;expAditiva&gt; ("+"|"-") &lt;expMult&gt;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                | &lt;expMult&gt;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✘ chamada infinita num parser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  descendente recursivo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03520" cy="182880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DEPOIS (iterativo à direita)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&lt;expAditiva&gt; ::= &lt;expMult&gt; (("+"|"-") &lt;expMult&gt;)*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✔ parseAdditive(): chama nível abaixo,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  depois while consome operador +</a:t>
            </a:r>
          </a:p>
          <a:p>
            <a:pPr algn="l">
              <a:defRPr sz="1300" b="0" i="0">
                <a:solidFill>
                  <a:srgbClr val="333333"/>
                </a:solidFill>
              </a:defRPr>
            </a:pPr>
            <a:r>
              <a:t>  operando seguinte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333333"/>
                </a:solidFill>
              </a:defRPr>
            </a:pPr>
            <a:r>
              <a:t>Aplicado a TODOS os níveis de precedência → hierarquia de métodos de parsing: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2606040" cy="566928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parseExpression()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023360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parseAssignment()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parseConditional()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023360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parseOr()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00016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parseAnd()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700016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parseBitOr()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00016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parseXor()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4700016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parseBitAnd()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76672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parseEquality()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376672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parseRelational()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376672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parseShift()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5376672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parseAdditive()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053328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parseMultiplicative()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6053328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parseUnary()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6053328"/>
            <a:ext cx="2606040" cy="566928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parsePostfix()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6053328"/>
            <a:ext cx="2606040" cy="566928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parsePrimary()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Hierarquia de precedência — menor → maior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716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parseExpression()  (entrada)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17739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63040" y="18288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parseAssignment()  —  =, +=, -=, *=, /=, ...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2311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63040" y="22860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parseConditional()  —  ?  :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6883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63040" y="27432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parseOr() / parseAnd()  —  ||  /  &amp;&amp;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31455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63040" y="32004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parseBitOr() / parseXor() / parseBitAnd()  —  |  ^  &amp;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36027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463040" y="36576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parseEquality() / parseRelational()  —  ==, !=, &lt;, &gt;, &lt;=, &gt;=, instanceof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40599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63040" y="41148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parseShift()  —  &lt;&lt;, &gt;&gt;, &gt;&gt;&gt;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45171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463040" y="45720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parseAdditive() / parseMultiplicative()  —  +, -, *, /,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49743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463040" y="50292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parseUnary()  —  !, ~, +, -, ++, --, (Tipo) cast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54315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463040" y="5486400"/>
            <a:ext cx="9235440" cy="402336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parsePostfix()  —  [ ], ., ( ), ++, --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5888736"/>
            <a:ext cx="0" cy="54864"/>
          </a:xfrm>
          <a:prstGeom prst="line">
            <a:avLst/>
          </a:prstGeom>
          <a:ln w="1270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463040" y="5943600"/>
            <a:ext cx="9235440" cy="402336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parsePrimary()  —  literais, identificador, this, super, ( expr ), 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1371600"/>
            <a:ext cx="1280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888888"/>
                </a:solidFill>
              </a:defRPr>
            </a:pPr>
            <a:r>
              <a:t>menor</a:t>
            </a:r>
            <a:br/>
            <a:r>
              <a:t>prec.</a:t>
            </a:r>
            <a:br/>
            <a:br/>
            <a:br/>
            <a:br/>
            <a:br/>
            <a:br/>
            <a:br/>
            <a:br/>
            <a:br/>
            <a:br/>
            <a:br/>
            <a:r>
              <a:t>maior</a:t>
            </a:r>
            <a:br/>
            <a:r>
              <a:t>prec.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Parser: constrói a AST e preenche a Tabela de Símbolos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5029200" cy="91440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 i="0">
                <a:solidFill>
                  <a:srgbClr val="333333"/>
                </a:solidFill>
              </a:defRPr>
            </a:pPr>
            <a:r>
              <a:t>Parser</a:t>
            </a:r>
          </a:p>
          <a:p>
            <a:pPr algn="ctr">
              <a:defRPr sz="1600" b="0" i="0">
                <a:solidFill>
                  <a:srgbClr val="333333"/>
                </a:solidFill>
              </a:defRPr>
            </a:pPr>
            <a:r>
              <a:t>(reconhece a gramática)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566160" y="2377440"/>
            <a:ext cx="1371600" cy="9144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46120" y="2633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devolve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2377440"/>
            <a:ext cx="1371600" cy="9144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95160" y="263347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preenche durante o parsing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46120"/>
            <a:ext cx="4389120" cy="11887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Program (AST)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cada regra da gramática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→ 1 classe de nó Java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(&gt;40 classes)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389120" cy="118872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SymbolTable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nome, tipo, endereço,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escopo, tamanho, valor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inicial de cada símbolo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937760"/>
            <a:ext cx="5029200" cy="128016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Usadas pelo Analisador Semântico</a:t>
            </a:r>
          </a:p>
          <a:p>
            <a:pPr algn="ctr">
              <a:defRPr sz="1400" b="0" i="0">
                <a:solidFill>
                  <a:srgbClr val="333333"/>
                </a:solidFill>
              </a:defRPr>
            </a:pPr>
            <a:r>
              <a:t>para validar a árvore inteira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4434840"/>
            <a:ext cx="1828800" cy="50292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06640" y="4434840"/>
            <a:ext cx="1828800" cy="50292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4. ANALISADOR SINTÁTICO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Recuperação de erros em modo pânico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280160"/>
            <a:ext cx="4114800" cy="54864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Erro sintático detetado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828800"/>
            <a:ext cx="0" cy="3657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4023360" y="2194560"/>
            <a:ext cx="4114800" cy="731520"/>
          </a:xfrm>
          <a:prstGeom prst="diamond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Em que nível da gramática?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280160" y="2743200"/>
            <a:ext cx="2926080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37360" y="2953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topo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926080"/>
            <a:ext cx="0" cy="6400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74920" y="3044951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membro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79" y="2743200"/>
            <a:ext cx="2468881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83880" y="2953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instrução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2743200" cy="11887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 i="0">
                <a:solidFill>
                  <a:srgbClr val="333333"/>
                </a:solidFill>
              </a:defRPr>
            </a:pPr>
            <a:r>
              <a:t>synchronizeTopLevel()</a:t>
            </a:r>
          </a:p>
          <a:p>
            <a:pPr algn="ctr">
              <a:defRPr sz="1150" b="0" i="0">
                <a:solidFill>
                  <a:srgbClr val="333333"/>
                </a:solidFill>
              </a:defRPr>
            </a:pPr>
            <a:r>
              <a:t>package / import / tipo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566160"/>
            <a:ext cx="2743200" cy="11887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 i="0">
                <a:solidFill>
                  <a:srgbClr val="333333"/>
                </a:solidFill>
              </a:defRPr>
            </a:pPr>
            <a:r>
              <a:t>synchronizeClassMember()</a:t>
            </a:r>
          </a:p>
          <a:p>
            <a:pPr algn="ctr">
              <a:defRPr sz="1150" b="0" i="0">
                <a:solidFill>
                  <a:srgbClr val="333333"/>
                </a:solidFill>
              </a:defRPr>
            </a:pPr>
            <a:r>
              <a:t>campo / método / construtor</a:t>
            </a:r>
          </a:p>
          <a:p>
            <a:pPr algn="ctr">
              <a:defRPr sz="1150" b="0" i="0">
                <a:solidFill>
                  <a:srgbClr val="333333"/>
                </a:solidFill>
              </a:defRPr>
            </a:pPr>
            <a:r>
              <a:t>insere ErrorMember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566160"/>
            <a:ext cx="2743200" cy="11887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50" b="1" i="0">
                <a:solidFill>
                  <a:srgbClr val="333333"/>
                </a:solidFill>
              </a:defRPr>
            </a:pPr>
            <a:r>
              <a:t>synchronizeStatement()</a:t>
            </a:r>
          </a:p>
          <a:p>
            <a:pPr algn="ctr">
              <a:defRPr sz="1150" b="0" i="0">
                <a:solidFill>
                  <a:srgbClr val="333333"/>
                </a:solidFill>
              </a:defRPr>
            </a:pPr>
            <a:r>
              <a:t>instrução no bloco</a:t>
            </a:r>
          </a:p>
          <a:p>
            <a:pPr algn="ctr">
              <a:defRPr sz="1150" b="0" i="0">
                <a:solidFill>
                  <a:srgbClr val="333333"/>
                </a:solidFill>
              </a:defRPr>
            </a:pPr>
            <a:r>
              <a:t>insere ErrorStatement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4754880"/>
            <a:ext cx="4251960" cy="6400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4754880"/>
            <a:ext cx="0" cy="6400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80760" y="4754880"/>
            <a:ext cx="4343400" cy="64008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66160" y="5394960"/>
            <a:ext cx="502920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AST recebe um nó de erro; análise continua no resto do ficheiro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6035040"/>
            <a:ext cx="0" cy="32004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566160" y="6355080"/>
            <a:ext cx="5029200" cy="45720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Análise Semântica corre na mesma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2743200"/>
            <a:ext cx="1188720" cy="1188720"/>
          </a:xfrm>
          <a:prstGeom prst="ellipse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4400" b="1" i="0">
                <a:solidFill>
                  <a:srgbClr val="1F3864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880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Analisador Semântico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5. ANALISADOR SEMÂNTICO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O papel do Analisador Semântico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3ª e última fase do front-end: recebe a AST (Program) + a Tabela de Símbolos já preenchidas pelo Parser.</a:t>
            </a:r>
          </a:p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Verifica se o programa, apesar de gramaticalmente correto, também faz sentido.</a:t>
            </a:r>
          </a:p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Metodologia: atribuição de tipo sintetizado — cada expressão devolve um Type calculado a partir dos tipos dos seus filhos.</a:t>
            </a:r>
          </a:p>
          <a:p>
            <a:pPr>
              <a:spcAft>
                <a:spcPts val="1400"/>
              </a:spcAft>
              <a:defRPr sz="1700">
                <a:solidFill>
                  <a:srgbClr val="333333"/>
                </a:solidFill>
              </a:defRPr>
            </a:pPr>
            <a:r>
              <a:t>•  Usa Type.isAssignableTo(alvo) como único ponto de decisão sobre compatibilidade de tipos (widening, null, Object, arrays).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5. ANALISADOR SEMÂNTICO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Tipo sintetizado — exemplo: "a + b"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2834640" cy="64008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BinaryExpression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(a + b)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91840" y="2103120"/>
            <a:ext cx="1828800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399" y="23134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visitExpression(a)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2103120"/>
            <a:ext cx="1828800" cy="82296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23134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visitExpression(b)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880360"/>
            <a:ext cx="2743200" cy="64008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a  →  Type(INT)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880360"/>
            <a:ext cx="2743200" cy="64008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b  →  Type(INT)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3520440"/>
            <a:ext cx="2560320" cy="6858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766560" y="3520440"/>
            <a:ext cx="2468880" cy="6858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4160520"/>
            <a:ext cx="3017520" cy="82296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Type.numericResult(a, b)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→ 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5212080"/>
            <a:ext cx="5029200" cy="82296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Se incompatíveis: erro semântico</a:t>
            </a:r>
          </a:p>
          <a:p>
            <a:pPr algn="ctr">
              <a:defRPr sz="1300" b="0" i="0">
                <a:solidFill>
                  <a:srgbClr val="333333"/>
                </a:solidFill>
              </a:defRPr>
            </a:pPr>
            <a:r>
              <a:t>+ devolve Type.ERROR (evita cascata)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983480"/>
            <a:ext cx="0" cy="2286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5. ANALISADOR SEMÂNTICO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Tabela de Símbolos: atributos usados na validação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nome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tipo de 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endereço de memória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46304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dimensão (array)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valor atribuído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6888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escopo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68880"/>
            <a:ext cx="2606040" cy="77724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tamanho em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333333"/>
                </a:solidFill>
              </a:defRPr>
            </a:pPr>
            <a:r>
              <a:t>→ usados por SemanticAnalyzer para resolver identificadores, validar tipos e detetar duplicados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206240"/>
            <a:ext cx="3108960" cy="64008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global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4846320"/>
            <a:ext cx="0" cy="2286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03120" y="5074920"/>
            <a:ext cx="310896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Classe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5715000"/>
            <a:ext cx="0" cy="228600"/>
          </a:xfrm>
          <a:prstGeom prst="line">
            <a:avLst/>
          </a:prstGeom>
          <a:ln w="1905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03120" y="5943600"/>
            <a:ext cx="3108960" cy="54864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método / construtor / bloco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20624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 i="0">
                <a:solidFill>
                  <a:srgbClr val="333333"/>
                </a:solidFill>
              </a:defRPr>
            </a:pPr>
            <a:r>
              <a:t>lookup(nome): procura no escopo atual e sobe pelos escopos pais</a:t>
            </a:r>
            <a:br/>
            <a:r>
              <a:t>até ao escopo global.</a:t>
            </a:r>
            <a:br/>
            <a:br/>
            <a:r>
              <a:t>lookupCurrentScope(nome): procura só no escopo indicado, sem subir</a:t>
            </a:r>
            <a:br/>
            <a:r>
              <a:t>(ex.: validar objeto.campo de outra classe).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5. ANALISADOR SEMÂNTICO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As 6 verificações exigidas pelo enunciado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17320"/>
            <a:ext cx="640080" cy="685800"/>
          </a:xfrm>
          <a:prstGeom prst="ellipse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 i="0">
                <a:solidFill>
                  <a:srgbClr val="333333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3560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 i="0">
                <a:solidFill>
                  <a:srgbClr val="333333"/>
                </a:solidFill>
              </a:defRPr>
            </a:pPr>
            <a:r>
              <a:t>Variável não declarada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435608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scope.lookup(nome) == null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94560"/>
            <a:ext cx="640080" cy="685800"/>
          </a:xfrm>
          <a:prstGeom prst="ellipse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 i="0">
                <a:solidFill>
                  <a:srgbClr val="333333"/>
                </a:solidFill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1284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 i="0">
                <a:solidFill>
                  <a:srgbClr val="333333"/>
                </a:solidFill>
              </a:defRPr>
            </a:pPr>
            <a:r>
              <a:t>Declaração duplicada no mesmo escopo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2212848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SymbolTable.addSymbol() devolve false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71800"/>
            <a:ext cx="640080" cy="685800"/>
          </a:xfrm>
          <a:prstGeom prst="ellipse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 i="0">
                <a:solidFill>
                  <a:srgbClr val="333333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00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 i="0">
                <a:solidFill>
                  <a:srgbClr val="333333"/>
                </a:solidFill>
              </a:defRPr>
            </a:pPr>
            <a:r>
              <a:t>Incompatibilidade de tipos de dados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990088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visitBinary / visitUnary + Type.isAssignableTo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749039"/>
            <a:ext cx="640080" cy="685800"/>
          </a:xfrm>
          <a:prstGeom prst="ellipse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 i="0">
                <a:solidFill>
                  <a:srgbClr val="333333"/>
                </a:solidFill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67327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 i="0">
                <a:solidFill>
                  <a:srgbClr val="333333"/>
                </a:solidFill>
              </a:defRPr>
            </a:pPr>
            <a:r>
              <a:t>Tipos dos argumentos em chamadas de métodos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3767327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checkArguments(params, argTypes)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26279"/>
            <a:ext cx="640080" cy="685800"/>
          </a:xfrm>
          <a:prstGeom prst="ellipse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 i="0">
                <a:solidFill>
                  <a:srgbClr val="333333"/>
                </a:solidFill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44567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 i="0">
                <a:solidFill>
                  <a:srgbClr val="333333"/>
                </a:solidFill>
              </a:defRPr>
            </a:pPr>
            <a:r>
              <a:t>Atribuição de tipo incompatível a variável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4544567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checkAssignable / visitAssignment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303519"/>
            <a:ext cx="640080" cy="685800"/>
          </a:xfrm>
          <a:prstGeom prst="ellipse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 i="0">
                <a:solidFill>
                  <a:srgbClr val="333333"/>
                </a:solidFill>
              </a:defRPr>
            </a:pPr>
            <a: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21807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 i="0">
                <a:solidFill>
                  <a:srgbClr val="333333"/>
                </a:solidFill>
              </a:defRPr>
            </a:pPr>
            <a:r>
              <a:t>Argumentos nas estruturas de controlo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5321807"/>
            <a:ext cx="457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00" b="0" i="0">
                <a:solidFill>
                  <a:srgbClr val="333333"/>
                </a:solidFill>
              </a:defRPr>
            </a:pPr>
            <a:r>
              <a:t>checkBooleanCondition (if/while/for/switch/for-each)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5. ANALISADOR SEMÂNTICO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Exemplo prático: teste_semantico.txt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577840" cy="4846320"/>
          </a:xfrm>
          <a:prstGeom prst="rect">
            <a:avLst/>
          </a:prstGeom>
          <a:solidFill>
            <a:srgbClr val="F5F5F5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public class TesteSemantico {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private int total = 0;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private int total = 5;        // (b)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public int soma(int a, int b) {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return a + b;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}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public void executar() {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int x = 10;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String texto = "ola";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int y = x + naoDeclarada;   // (a)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int z = texto;              // (c)/(e)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int r = soma(1, "dois");    // (d)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if (x) { ... }              // (f)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while (texto) { ... }       // (f)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  for (int i=0; texto; i++){} // (f)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  }</a:t>
            </a:r>
          </a:p>
          <a:p>
            <a:pPr algn="l">
              <a:defRPr sz="1150" b="0" i="0">
                <a:solidFill>
                  <a:srgbClr val="333333"/>
                </a:solidFill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371600"/>
            <a:ext cx="5257800" cy="4846320"/>
          </a:xfrm>
          <a:prstGeom prst="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=== ERROS SEMANTICOS ===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3:25  Símbolo 'total' já declarado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       no escopo 'TesteSemantico'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13:21 Variável 'naoDeclarada'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       não declarada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15:17 Não é possível atribuir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       'String' a 'z' (int)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17:33 Argumento 2 de 'soma' é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       'String', esperado 'int'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19:13 / 23:16 / 27:25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       Condição não é boolean</a:t>
            </a:r>
          </a:p>
          <a:p>
            <a:pPr algn="l">
              <a:defRPr sz="1250" b="0" i="0">
                <a:solidFill>
                  <a:srgbClr val="333333"/>
                </a:solidFill>
              </a:defRPr>
            </a:pPr>
          </a:p>
          <a:p>
            <a:pPr algn="l">
              <a:defRPr sz="1250" b="0" i="0">
                <a:solidFill>
                  <a:srgbClr val="333333"/>
                </a:solidFill>
              </a:defRPr>
            </a:pPr>
            <a:r>
              <a:t>→ 7 erros semânticos detetados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O que foi alcançado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50">
                <a:solidFill>
                  <a:srgbClr val="333333"/>
                </a:solidFill>
              </a:defRPr>
            </a:pPr>
            <a:r>
              <a:t>•  As 3 fases do front-end foram implementadas de forma integrada: Léxico → Sintático → Semântico.</a:t>
            </a:r>
          </a:p>
          <a:p>
            <a:pPr>
              <a:spcAft>
                <a:spcPts val="1400"/>
              </a:spcAft>
              <a:defRPr sz="1650">
                <a:solidFill>
                  <a:srgbClr val="333333"/>
                </a:solidFill>
              </a:defRPr>
            </a:pPr>
            <a:r>
              <a:t>•  Léxico: AFD explícito, sem gerador de scanners, cobrindo todas as categorias de token de um subconjunto real de Java.</a:t>
            </a:r>
          </a:p>
          <a:p>
            <a:pPr>
              <a:spcAft>
                <a:spcPts val="1400"/>
              </a:spcAft>
              <a:defRPr sz="1650">
                <a:solidFill>
                  <a:srgbClr val="333333"/>
                </a:solidFill>
              </a:defRPr>
            </a:pPr>
            <a:r>
              <a:t>•  Sintático: gramática preparada (dangling else eliminado; recursividade à esquerda convertida em iteração) para um parser descendente recursivo com recuperação de erros em modo pânico.</a:t>
            </a:r>
          </a:p>
          <a:p>
            <a:pPr>
              <a:spcAft>
                <a:spcPts val="1400"/>
              </a:spcAft>
              <a:defRPr sz="1650">
                <a:solidFill>
                  <a:srgbClr val="333333"/>
                </a:solidFill>
              </a:defRPr>
            </a:pPr>
            <a:r>
              <a:t>•  Semântico: as 6 verificações exigidas (a–f) implementadas de forma sistemática sobre a Tabela de Símbolos construída durante o parsing, usando tipo sintetizado e uma única regra central de compatibilidade de tipos.</a:t>
            </a:r>
          </a:p>
          <a:p>
            <a:pPr>
              <a:spcAft>
                <a:spcPts val="1400"/>
              </a:spcAft>
              <a:defRPr sz="1650">
                <a:solidFill>
                  <a:srgbClr val="333333"/>
                </a:solidFill>
              </a:defRPr>
            </a:pPr>
            <a:r>
              <a:t>•  Limitações conscientes e documentadas: sem sobrecarga de métodos, sem herança entre classes do utilizador, biblioteca padrão via whitelist.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79B00"/>
                </a:solidFill>
              </a:defRPr>
            </a:pPr>
            <a: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</a:defRPr>
            </a:pPr>
            <a:r>
              <a:t>Bibliografia principal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333333"/>
                </a:solidFill>
              </a:defRPr>
            </a:pPr>
            <a:r>
              <a:t>•  AHO, LAM, SETHI, ULLMAN — Compilers: Principles, Techniques, and Tools ("Dragon Book"), 2ª ed., 2006.</a:t>
            </a:r>
          </a:p>
          <a:p>
            <a:pPr>
              <a:spcAft>
                <a:spcPts val="1600"/>
              </a:spcAft>
              <a:defRPr sz="1700">
                <a:solidFill>
                  <a:srgbClr val="333333"/>
                </a:solidFill>
              </a:defRPr>
            </a:pPr>
            <a:r>
              <a:t>•  LOUDEN, K. — Compiler Construction: Principles and Practice, 1997.</a:t>
            </a:r>
          </a:p>
          <a:p>
            <a:pPr>
              <a:spcAft>
                <a:spcPts val="1600"/>
              </a:spcAft>
              <a:defRPr sz="1700">
                <a:solidFill>
                  <a:srgbClr val="333333"/>
                </a:solidFill>
              </a:defRPr>
            </a:pPr>
            <a:r>
              <a:t>•  APPEL, A. — Modern Compiler Implementation in Java, 2ª ed., 2002.</a:t>
            </a:r>
          </a:p>
          <a:p>
            <a:pPr>
              <a:spcAft>
                <a:spcPts val="1600"/>
              </a:spcAft>
              <a:defRPr sz="1700">
                <a:solidFill>
                  <a:srgbClr val="333333"/>
                </a:solidFill>
              </a:defRPr>
            </a:pPr>
            <a:r>
              <a:t>•  GOSLING et al. — The Java Language Specification, Java SE 17, Oracle.</a:t>
            </a:r>
          </a:p>
          <a:p>
            <a:pPr>
              <a:spcAft>
                <a:spcPts val="1600"/>
              </a:spcAft>
              <a:defRPr sz="1700">
                <a:solidFill>
                  <a:srgbClr val="333333"/>
                </a:solidFill>
              </a:defRPr>
            </a:pPr>
            <a:r>
              <a:t>•  PARR, T. — Language Implementation Patterns, 2010.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DDE6F5"/>
                </a:solidFill>
              </a:defRPr>
            </a:pPr>
            <a: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AAFD0"/>
                </a:solidFill>
              </a:defRPr>
            </a:pPr>
            <a:r>
              <a:t>MINI-COMPILADOR — Analisador Léxico, Sintático e Semântico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